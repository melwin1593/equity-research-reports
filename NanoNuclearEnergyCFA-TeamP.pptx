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4" r:id="rId1"/>
  </p:sldMasterIdLst>
  <p:notesMasterIdLst>
    <p:notesMasterId r:id="rId30"/>
  </p:notesMasterIdLst>
  <p:sldIdLst>
    <p:sldId id="386" r:id="rId2"/>
    <p:sldId id="361" r:id="rId3"/>
    <p:sldId id="385" r:id="rId4"/>
    <p:sldId id="358" r:id="rId5"/>
    <p:sldId id="382" r:id="rId6"/>
    <p:sldId id="383" r:id="rId7"/>
    <p:sldId id="355" r:id="rId8"/>
    <p:sldId id="351" r:id="rId9"/>
    <p:sldId id="375" r:id="rId10"/>
    <p:sldId id="376" r:id="rId11"/>
    <p:sldId id="381" r:id="rId12"/>
    <p:sldId id="369" r:id="rId13"/>
    <p:sldId id="370" r:id="rId14"/>
    <p:sldId id="371" r:id="rId15"/>
    <p:sldId id="373" r:id="rId16"/>
    <p:sldId id="349" r:id="rId17"/>
    <p:sldId id="346" r:id="rId18"/>
    <p:sldId id="364" r:id="rId19"/>
    <p:sldId id="365" r:id="rId20"/>
    <p:sldId id="366" r:id="rId21"/>
    <p:sldId id="362" r:id="rId22"/>
    <p:sldId id="363" r:id="rId23"/>
    <p:sldId id="368" r:id="rId24"/>
    <p:sldId id="377" r:id="rId25"/>
    <p:sldId id="378" r:id="rId26"/>
    <p:sldId id="379" r:id="rId27"/>
    <p:sldId id="380" r:id="rId28"/>
    <p:sldId id="384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8F6D"/>
    <a:srgbClr val="A7F1F9"/>
    <a:srgbClr val="005493"/>
    <a:srgbClr val="9EBDF8"/>
    <a:srgbClr val="264D90"/>
    <a:srgbClr val="E85C60"/>
    <a:srgbClr val="008F00"/>
    <a:srgbClr val="E7690D"/>
    <a:srgbClr val="48739B"/>
    <a:srgbClr val="FFB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55E079-7052-45B1-A9A0-D0ADB8C44E8B}">
  <a:tblStyle styleId="{6B55E079-7052-45B1-A9A0-D0ADB8C44E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5836"/>
    <p:restoredTop sz="86474"/>
  </p:normalViewPr>
  <p:slideViewPr>
    <p:cSldViewPr snapToGrid="0">
      <p:cViewPr>
        <p:scale>
          <a:sx n="165" d="100"/>
          <a:sy n="165" d="100"/>
        </p:scale>
        <p:origin x="79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5F36-FA2E-1043-2C8F-C3B69615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83496-B7E2-8648-3E44-A3B925F08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25FC5-AC18-75FF-1477-5713BE981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980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Early-stage advanced nuclear developer</a:t>
            </a:r>
          </a:p>
          <a:p>
            <a:r>
              <a:rPr lang="en-US" dirty="0"/>
              <a:t>15 MWe microreactor focus</a:t>
            </a:r>
          </a:p>
          <a:p>
            <a:r>
              <a:rPr lang="en-US" dirty="0"/>
              <a:t>Targets industrial, remote &amp; defense markets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38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83472-A6CA-0BE5-F9C3-E78E1C3DC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E2409-1A55-7A0E-3990-D1002100D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B3D15-A613-D6BE-5049-4519751EB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While the company has disclosed ancillary fuel and transportation initiatives, these segments remain early-stage and are not expected to generate material revenue prior to successful reactor licensing and deployment. Therefore, our commercialization outlook remains KRONOS-dependent.”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667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/>
              <a:t>Early Pre-CP Planning</a:t>
            </a:r>
            <a:endParaRPr lang="en-US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336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399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>
          <a:extLst>
            <a:ext uri="{FF2B5EF4-FFF2-40B4-BE49-F238E27FC236}">
              <a16:creationId xmlns:a16="http://schemas.microsoft.com/office/drawing/2014/main" id="{38CB8CB5-BD2D-B277-D1DB-123F7B6A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166a889f7a_1_171:notes">
            <a:extLst>
              <a:ext uri="{FF2B5EF4-FFF2-40B4-BE49-F238E27FC236}">
                <a16:creationId xmlns:a16="http://schemas.microsoft.com/office/drawing/2014/main" id="{8A5D025E-E5EC-CB73-C6E6-4545038CB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72" name="Google Shape;472;g1166a889f7a_1_171:notes">
            <a:extLst>
              <a:ext uri="{FF2B5EF4-FFF2-40B4-BE49-F238E27FC236}">
                <a16:creationId xmlns:a16="http://schemas.microsoft.com/office/drawing/2014/main" id="{6B7F734E-DEE7-1781-1D34-E8954D520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/>
              <a:t>Construction Permit approval is the first binding regulatory gate and remains a prerequisite to commercialization.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90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846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28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anchored terminal multiple to observed EV/EBITDA trading ranges of mature power generation businesses (Damodaran data), consistent with stabilized operating assets.</a:t>
            </a:r>
          </a:p>
          <a:p>
            <a:r>
              <a:rPr lang="en-US" dirty="0"/>
              <a:t>Why choose EV/EBITDA</a:t>
            </a:r>
          </a:p>
          <a:p>
            <a:r>
              <a:rPr lang="en-US" dirty="0"/>
              <a:t>Why not choose RV?</a:t>
            </a:r>
          </a:p>
        </p:txBody>
      </p:sp>
    </p:spTree>
    <p:extLst>
      <p:ext uri="{BB962C8B-B14F-4D97-AF65-F5344CB8AC3E}">
        <p14:creationId xmlns:p14="http://schemas.microsoft.com/office/powerpoint/2010/main" val="901707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479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1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b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129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multiple cross-check supports SELL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719382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84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0E6FACB2-242D-0841-C930-CA4F21B2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1588ae0e4b_0_1588:notes">
            <a:extLst>
              <a:ext uri="{FF2B5EF4-FFF2-40B4-BE49-F238E27FC236}">
                <a16:creationId xmlns:a16="http://schemas.microsoft.com/office/drawing/2014/main" id="{0549AA62-F952-1F83-C125-1AD126470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1" name="Google Shape;261;g11588ae0e4b_0_1588:notes">
            <a:extLst>
              <a:ext uri="{FF2B5EF4-FFF2-40B4-BE49-F238E27FC236}">
                <a16:creationId xmlns:a16="http://schemas.microsoft.com/office/drawing/2014/main" id="{696E3956-2147-7B71-A074-237D954DA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553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23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Increasing</a:t>
            </a:r>
            <a:r>
              <a:rPr lang="en-US" dirty="0"/>
              <a:t> as firms race toward regulatory approval and first deployments.</a:t>
            </a:r>
          </a:p>
        </p:txBody>
      </p:sp>
    </p:spTree>
    <p:extLst>
      <p:ext uri="{BB962C8B-B14F-4D97-AF65-F5344CB8AC3E}">
        <p14:creationId xmlns:p14="http://schemas.microsoft.com/office/powerpoint/2010/main" val="2664827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  <a:defRPr sz="12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rabi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alpha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Open Sans Light"/>
              <a:buAutoNum type="romanLcPeriod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ctrTitle"/>
          </p:nvPr>
        </p:nvSpPr>
        <p:spPr>
          <a:xfrm>
            <a:off x="723600" y="470625"/>
            <a:ext cx="1567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5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/>
          <p:nvPr/>
        </p:nvSpPr>
        <p:spPr>
          <a:xfrm flipH="1">
            <a:off x="5204100" y="539500"/>
            <a:ext cx="3939900" cy="536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41" name="Google Shape;241;p44"/>
          <p:cNvSpPr/>
          <p:nvPr/>
        </p:nvSpPr>
        <p:spPr>
          <a:xfrm rot="5400000" flipH="1">
            <a:off x="105125" y="4670975"/>
            <a:ext cx="679500" cy="536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/>
          <p:nvPr/>
        </p:nvSpPr>
        <p:spPr>
          <a:xfrm>
            <a:off x="5344850" y="0"/>
            <a:ext cx="3798900" cy="223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5"/>
          <p:cNvSpPr/>
          <p:nvPr/>
        </p:nvSpPr>
        <p:spPr>
          <a:xfrm>
            <a:off x="-2066275" y="4599425"/>
            <a:ext cx="2779500" cy="1633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erif Display"/>
              <a:buNone/>
              <a:defRPr sz="28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Char char="●"/>
              <a:defRPr sz="1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pen Sans Light"/>
              <a:buChar char="●"/>
              <a:defRPr sz="1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●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○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Light"/>
              <a:buChar char="■"/>
              <a:defRPr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8" r:id="rId3"/>
    <p:sldLayoutId id="2147483690" r:id="rId4"/>
    <p:sldLayoutId id="2147483691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2897">
          <p15:clr>
            <a:srgbClr val="EA4335"/>
          </p15:clr>
        </p15:guide>
        <p15:guide id="4" orient="horz" pos="34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C7A8-452D-B874-5EEC-E2838FF37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09" y="727196"/>
            <a:ext cx="5121887" cy="801103"/>
          </a:xfrm>
        </p:spPr>
        <p:txBody>
          <a:bodyPr/>
          <a:lstStyle/>
          <a:p>
            <a:r>
              <a:rPr lang="en-US" sz="4000" dirty="0"/>
              <a:t>NANO Nuclear Energy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E7E898-E0C4-F554-36BF-22EF8926B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846254"/>
              </p:ext>
            </p:extLst>
          </p:nvPr>
        </p:nvGraphicFramePr>
        <p:xfrm>
          <a:off x="6084706" y="3491215"/>
          <a:ext cx="2396067" cy="117348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Implied Downside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-11.54%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5926F2-8557-ABA2-D8BB-1C31A057D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739460"/>
              </p:ext>
            </p:extLst>
          </p:nvPr>
        </p:nvGraphicFramePr>
        <p:xfrm>
          <a:off x="6084706" y="1962150"/>
          <a:ext cx="2396067" cy="121920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DCF Implied Stock Price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$16.11</a:t>
                      </a:r>
                      <a:endParaRPr lang="en-US" sz="2500" b="1" dirty="0">
                        <a:solidFill>
                          <a:srgbClr val="C0000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BC0729-5D99-DAD1-AD03-DF5885A52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303638"/>
              </p:ext>
            </p:extLst>
          </p:nvPr>
        </p:nvGraphicFramePr>
        <p:xfrm>
          <a:off x="6084706" y="603208"/>
          <a:ext cx="2396067" cy="1049077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473477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Rating: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57560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2938D0-462D-B86A-D9CF-1430DF5C1C71}"/>
              </a:ext>
            </a:extLst>
          </p:cNvPr>
          <p:cNvSpPr txBox="1"/>
          <p:nvPr/>
        </p:nvSpPr>
        <p:spPr>
          <a:xfrm>
            <a:off x="428609" y="2076319"/>
            <a:ext cx="51919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NANO Nuclear Energy is a 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pre-revenue developer of advanced nuclear microreactors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focused on commercializing its KRONOS design.</a:t>
            </a:r>
          </a:p>
        </p:txBody>
      </p:sp>
    </p:spTree>
    <p:extLst>
      <p:ext uri="{BB962C8B-B14F-4D97-AF65-F5344CB8AC3E}">
        <p14:creationId xmlns:p14="http://schemas.microsoft.com/office/powerpoint/2010/main" val="1114563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20AF-17FA-34B8-A9EC-F556F41E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F9A28F-8CA7-05D4-A370-5F2106AE5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704185"/>
              </p:ext>
            </p:extLst>
          </p:nvPr>
        </p:nvGraphicFramePr>
        <p:xfrm>
          <a:off x="0" y="1327147"/>
          <a:ext cx="9144000" cy="3362162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553993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64928404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16991103"/>
                    </a:ext>
                  </a:extLst>
                </a:gridCol>
              </a:tblGrid>
              <a:tr h="10689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Unproven &amp; Prolonged Regulatory Pathway</a:t>
                      </a:r>
                    </a:p>
                  </a:txBody>
                  <a:tcPr>
                    <a:solidFill>
                      <a:srgbClr val="9EBDF8">
                        <a:alpha val="298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Commercialization Concentrated in One Asset</a:t>
                      </a:r>
                    </a:p>
                  </a:txBody>
                  <a:tcPr>
                    <a:solidFill>
                      <a:srgbClr val="9EBDF8">
                        <a:alpha val="2989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Delays Drive Dilution Risk</a:t>
                      </a:r>
                    </a:p>
                  </a:txBody>
                  <a:tcPr>
                    <a:solidFill>
                      <a:srgbClr val="9EBDF8">
                        <a:alpha val="298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2384"/>
                  </a:ext>
                </a:extLst>
              </a:tr>
              <a:tr h="22648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• No microreactor CP or OL approvals</a:t>
                      </a:r>
                      <a:b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• FOAK designs face prolonged NRC scrutiny</a:t>
                      </a:r>
                      <a:b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• Market pricing assumes faster execution</a:t>
                      </a:r>
                      <a:endParaRPr lang="en-US" sz="185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en-US" sz="185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KRONOS is the only defined NRC licensing pathway.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</a:t>
                      </a:r>
                      <a:r>
                        <a:rPr lang="en-US" sz="185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Fuel processing and transport remain early-stage and non-material.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Extended pre-revenue cash burn</a:t>
                      </a:r>
                      <a:b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Capital intensity rises toward construction</a:t>
                      </a:r>
                      <a:b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Equity funding heightens dilution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35031"/>
                  </a:ext>
                </a:extLst>
              </a:tr>
            </a:tbl>
          </a:graphicData>
        </a:graphic>
      </p:graphicFrame>
      <p:pic>
        <p:nvPicPr>
          <p:cNvPr id="36" name="Graphic 35" descr="Badge 1 with solid fill">
            <a:extLst>
              <a:ext uri="{FF2B5EF4-FFF2-40B4-BE49-F238E27FC236}">
                <a16:creationId xmlns:a16="http://schemas.microsoft.com/office/drawing/2014/main" id="{A9E74D01-B7FD-AF7F-0F52-32C98FBAED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8467" y="734482"/>
            <a:ext cx="592665" cy="592665"/>
          </a:xfrm>
          <a:prstGeom prst="rect">
            <a:avLst/>
          </a:prstGeom>
        </p:spPr>
      </p:pic>
      <p:pic>
        <p:nvPicPr>
          <p:cNvPr id="38" name="Graphic 37" descr="Badge with solid fill">
            <a:extLst>
              <a:ext uri="{FF2B5EF4-FFF2-40B4-BE49-F238E27FC236}">
                <a16:creationId xmlns:a16="http://schemas.microsoft.com/office/drawing/2014/main" id="{9350E808-5674-BF5F-BF98-64EB12F5A3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7932" y="734480"/>
            <a:ext cx="592665" cy="592665"/>
          </a:xfrm>
          <a:prstGeom prst="rect">
            <a:avLst/>
          </a:prstGeom>
        </p:spPr>
      </p:pic>
      <p:pic>
        <p:nvPicPr>
          <p:cNvPr id="40" name="Graphic 39" descr="Badge 3 with solid fill">
            <a:extLst>
              <a:ext uri="{FF2B5EF4-FFF2-40B4-BE49-F238E27FC236}">
                <a16:creationId xmlns:a16="http://schemas.microsoft.com/office/drawing/2014/main" id="{31AE6117-FDB4-B2C9-8F03-6B9072EB80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0602" y="734480"/>
            <a:ext cx="592665" cy="592665"/>
          </a:xfrm>
          <a:prstGeom prst="rect">
            <a:avLst/>
          </a:prstGeom>
        </p:spPr>
      </p:pic>
      <p:sp>
        <p:nvSpPr>
          <p:cNvPr id="41" name="Rectangle 1">
            <a:extLst>
              <a:ext uri="{FF2B5EF4-FFF2-40B4-BE49-F238E27FC236}">
                <a16:creationId xmlns:a16="http://schemas.microsoft.com/office/drawing/2014/main" id="{C74CE5B1-8603-0097-6C7A-612727FC1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4402"/>
            <a:ext cx="9144000" cy="63094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DM Serif Display" pitchFamily="2" charset="0"/>
              </a:rPr>
              <a:t>Investment Thesis —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DM Serif Display" pitchFamily="2" charset="0"/>
              </a:rPr>
              <a:t>SELL</a:t>
            </a:r>
            <a:endParaRPr kumimoji="0" lang="en-US" altLang="en-US" sz="3500" b="1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DM Serif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38301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FBE7-268C-4095-AF4D-B0CF01E3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2" y="338023"/>
            <a:ext cx="7973575" cy="478200"/>
          </a:xfrm>
        </p:spPr>
        <p:txBody>
          <a:bodyPr/>
          <a:lstStyle/>
          <a:p>
            <a:pPr algn="ctr"/>
            <a:r>
              <a:rPr lang="en-US" sz="3200" dirty="0"/>
              <a:t>Business Description- Nano Nuclear Energy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6FCCD-6E4E-89E8-8CEB-85237F1BD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25" y="950518"/>
            <a:ext cx="7500877" cy="3447000"/>
          </a:xfrm>
        </p:spPr>
        <p:txBody>
          <a:bodyPr/>
          <a:lstStyle/>
          <a:p>
            <a:pPr marL="139700" indent="0">
              <a:buNone/>
            </a:pPr>
            <a:r>
              <a:rPr lang="en-US" sz="2200" b="1" dirty="0">
                <a:solidFill>
                  <a:srgbClr val="00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They Do?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850" dirty="0"/>
              <a:t>Early-stage advanced nuclear microreactor developer</a:t>
            </a:r>
          </a:p>
          <a:p>
            <a:pPr marL="425450" indent="-285750">
              <a:buFont typeface="Arial" panose="020B0604020202020204" pitchFamily="34" charset="0"/>
              <a:buChar char="•"/>
            </a:pPr>
            <a:r>
              <a:rPr lang="en-US" sz="1850" dirty="0"/>
              <a:t>Targets industrial, remote &amp; defense markets</a:t>
            </a:r>
          </a:p>
          <a:p>
            <a:pPr marL="139700" indent="0">
              <a:buNone/>
            </a:pPr>
            <a:endParaRPr lang="en-US" sz="2200" b="1" dirty="0"/>
          </a:p>
          <a:p>
            <a:pPr marL="139700" indent="0">
              <a:buNone/>
            </a:pPr>
            <a:r>
              <a:rPr lang="en-US" sz="2200" b="1" dirty="0">
                <a:solidFill>
                  <a:srgbClr val="00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Flagship Asset - KRONOS MMR™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US" sz="1850" b="1" dirty="0"/>
              <a:t>15 MWe microreactor</a:t>
            </a:r>
          </a:p>
          <a:p>
            <a:pPr marL="139700" indent="0">
              <a:buNone/>
            </a:pPr>
            <a:endParaRPr lang="en-US" sz="1800" b="1" dirty="0"/>
          </a:p>
          <a:p>
            <a:pPr marL="139700" indent="0">
              <a:buNone/>
            </a:pPr>
            <a:r>
              <a:rPr lang="en-US" sz="2200" b="1" dirty="0">
                <a:solidFill>
                  <a:srgbClr val="0054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</a:t>
            </a:r>
          </a:p>
          <a:p>
            <a:r>
              <a:rPr lang="en-US" sz="1850" dirty="0"/>
              <a:t>Near-term: consulting &amp; nuclear services revenue</a:t>
            </a:r>
          </a:p>
          <a:p>
            <a:r>
              <a:rPr lang="en-US" sz="1850" dirty="0"/>
              <a:t>Long-term: reactor commercialization</a:t>
            </a:r>
          </a:p>
          <a:p>
            <a:r>
              <a:rPr lang="en-US" sz="1850" dirty="0"/>
              <a:t>Vertical integration ambitions (fuel processing &amp; transport)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2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0AA62-7A70-C432-E79F-BC86AC27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9895-420B-4094-08FA-E1F6F40C7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80231"/>
            <a:ext cx="7717500" cy="478200"/>
          </a:xfrm>
        </p:spPr>
        <p:txBody>
          <a:bodyPr/>
          <a:lstStyle/>
          <a:p>
            <a:pPr algn="ctr"/>
            <a:r>
              <a:rPr lang="en-US" sz="3200" dirty="0"/>
              <a:t>Reactor Portfolio Remains Early-Stage and Licensing Dependent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8988FD-3996-C095-AC87-254F8BB96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578617"/>
              </p:ext>
            </p:extLst>
          </p:nvPr>
        </p:nvGraphicFramePr>
        <p:xfrm>
          <a:off x="482599" y="1445687"/>
          <a:ext cx="8458200" cy="319532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031066">
                  <a:extLst>
                    <a:ext uri="{9D8B030D-6E8A-4147-A177-3AD203B41FA5}">
                      <a16:colId xmlns:a16="http://schemas.microsoft.com/office/drawing/2014/main" val="2754611530"/>
                    </a:ext>
                  </a:extLst>
                </a:gridCol>
                <a:gridCol w="5427134">
                  <a:extLst>
                    <a:ext uri="{9D8B030D-6E8A-4147-A177-3AD203B41FA5}">
                      <a16:colId xmlns:a16="http://schemas.microsoft.com/office/drawing/2014/main" val="2528364654"/>
                    </a:ext>
                  </a:extLst>
                </a:gridCol>
              </a:tblGrid>
              <a:tr h="4796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200" b="0" dirty="0">
                        <a:solidFill>
                          <a:srgbClr val="264D9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KRONOS MMR™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(15 MWe per unit)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5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Flagship and most advanced reactor program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Only reactor design currently advancing toward NRC licensing </a:t>
                      </a:r>
                    </a:p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50" b="0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Commercialization and revenue are </a:t>
                      </a:r>
                      <a:r>
                        <a:rPr lang="en-US" sz="1850" b="1" i="0" u="none" strike="noStrik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contingent on KRONOS execution</a:t>
                      </a:r>
                      <a:endParaRPr lang="en-US" sz="185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86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6D8F6D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ZEUS™ 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Early-stage</a:t>
                      </a: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 portable microreactor; no defined licensing timeline.</a:t>
                      </a:r>
                      <a:endParaRPr lang="en-US" sz="18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1365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LOKI MMR™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5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Earliest-stage program</a:t>
                      </a:r>
                      <a:r>
                        <a:rPr lang="en-US" sz="18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 in portfolio; no defined licensing timeline.</a:t>
                      </a:r>
                      <a:endParaRPr lang="en-US" sz="18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510863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6BE112-2FF3-4981-D55A-060882828996}"/>
              </a:ext>
            </a:extLst>
          </p:cNvPr>
          <p:cNvCxnSpPr>
            <a:cxnSpLocks/>
          </p:cNvCxnSpPr>
          <p:nvPr/>
        </p:nvCxnSpPr>
        <p:spPr>
          <a:xfrm>
            <a:off x="730184" y="1220899"/>
            <a:ext cx="7717500" cy="0"/>
          </a:xfrm>
          <a:prstGeom prst="line">
            <a:avLst/>
          </a:prstGeom>
          <a:ln w="25400">
            <a:solidFill>
              <a:srgbClr val="264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7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5D084-E7BE-DA34-61B2-E3482450D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70022"/>
            <a:ext cx="7717500" cy="478200"/>
          </a:xfrm>
        </p:spPr>
        <p:txBody>
          <a:bodyPr/>
          <a:lstStyle/>
          <a:p>
            <a:pPr algn="ctr"/>
            <a:r>
              <a:rPr lang="en-US" dirty="0"/>
              <a:t>Advanced Nuclear Microreactors – Industry Structure &amp; Commercial Reality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F91BEA-385F-58F7-1122-D851DDF3A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688483"/>
              </p:ext>
            </p:extLst>
          </p:nvPr>
        </p:nvGraphicFramePr>
        <p:xfrm>
          <a:off x="713225" y="1214420"/>
          <a:ext cx="7717500" cy="2503185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858750">
                  <a:extLst>
                    <a:ext uri="{9D8B030D-6E8A-4147-A177-3AD203B41FA5}">
                      <a16:colId xmlns:a16="http://schemas.microsoft.com/office/drawing/2014/main" val="2943286733"/>
                    </a:ext>
                  </a:extLst>
                </a:gridCol>
                <a:gridCol w="3858750">
                  <a:extLst>
                    <a:ext uri="{9D8B030D-6E8A-4147-A177-3AD203B41FA5}">
                      <a16:colId xmlns:a16="http://schemas.microsoft.com/office/drawing/2014/main" val="3853304273"/>
                    </a:ext>
                  </a:extLst>
                </a:gridCol>
              </a:tblGrid>
              <a:tr h="440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Market Structure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Commercial Reality: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002355"/>
                  </a:ext>
                </a:extLst>
              </a:tr>
              <a:tr h="203074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~$40–45B global nuclear market</a:t>
                      </a:r>
                      <a:endParaRPr lang="en-US" sz="1950" b="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5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Microreactors remain entirely pre-commercial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 commercialization precedent exists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Regulatory approval drives value inflection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FOAK execution risk remains elevated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9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Capital intensity limits near-term visibility</a:t>
                      </a:r>
                    </a:p>
                  </a:txBody>
                  <a:tcPr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37230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C71EBE3-5F00-BAFD-A90F-2CBE374CABD5}"/>
              </a:ext>
            </a:extLst>
          </p:cNvPr>
          <p:cNvSpPr/>
          <p:nvPr/>
        </p:nvSpPr>
        <p:spPr>
          <a:xfrm>
            <a:off x="1499611" y="3998562"/>
            <a:ext cx="6393051" cy="5889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Valuation assumes successful commercialization</a:t>
            </a:r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178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A31DD-5ED9-ABDE-B46A-2C5F49FB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202602"/>
            <a:ext cx="7717500" cy="478200"/>
          </a:xfrm>
        </p:spPr>
        <p:txBody>
          <a:bodyPr/>
          <a:lstStyle/>
          <a:p>
            <a:pPr algn="ctr"/>
            <a:r>
              <a:rPr lang="en-US" sz="3200" dirty="0"/>
              <a:t>Advanced Reactor Peer Comparison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6308BCD-4C4A-91C4-74DF-B89E4CB94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85682"/>
              </p:ext>
            </p:extLst>
          </p:nvPr>
        </p:nvGraphicFramePr>
        <p:xfrm>
          <a:off x="422327" y="766484"/>
          <a:ext cx="8330339" cy="3217171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776780">
                  <a:extLst>
                    <a:ext uri="{9D8B030D-6E8A-4147-A177-3AD203B41FA5}">
                      <a16:colId xmlns:a16="http://schemas.microsoft.com/office/drawing/2014/main" val="2725447802"/>
                    </a:ext>
                  </a:extLst>
                </a:gridCol>
                <a:gridCol w="2206139">
                  <a:extLst>
                    <a:ext uri="{9D8B030D-6E8A-4147-A177-3AD203B41FA5}">
                      <a16:colId xmlns:a16="http://schemas.microsoft.com/office/drawing/2014/main" val="4177044540"/>
                    </a:ext>
                  </a:extLst>
                </a:gridCol>
                <a:gridCol w="3347420">
                  <a:extLst>
                    <a:ext uri="{9D8B030D-6E8A-4147-A177-3AD203B41FA5}">
                      <a16:colId xmlns:a16="http://schemas.microsoft.com/office/drawing/2014/main" val="3540755396"/>
                    </a:ext>
                  </a:extLst>
                </a:gridCol>
              </a:tblGrid>
              <a:tr h="37172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Company</a:t>
                      </a:r>
                    </a:p>
                  </a:txBody>
                  <a:tcPr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Reactor Type</a:t>
                      </a:r>
                    </a:p>
                  </a:txBody>
                  <a:tcPr>
                    <a:solidFill>
                      <a:srgbClr val="0054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Regulatory Stage</a:t>
                      </a:r>
                    </a:p>
                  </a:txBody>
                  <a:tcPr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957425"/>
                  </a:ext>
                </a:extLst>
              </a:tr>
              <a:tr h="6576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Oklo (Aurora)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Microreactor (75MWe)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COLA Resubmission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460888"/>
                  </a:ext>
                </a:extLst>
              </a:tr>
              <a:tr h="6576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X-energy (Xe-100)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SMR (80 Mwe)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Advanced Pre-CP Engagement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563438"/>
                  </a:ext>
                </a:extLst>
              </a:tr>
              <a:tr h="476226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TerraPower (Natrium)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SMR (345 MWe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Pre-CP + DOE Backed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544791"/>
                  </a:ext>
                </a:extLst>
              </a:tr>
              <a:tr h="37172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Kairos Power (Hermes)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SMR (140MWe)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CP Under NRC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568352"/>
                  </a:ext>
                </a:extLst>
              </a:tr>
              <a:tr h="65766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Nano Nuclear 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Microreactor (15MWe)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Early Pre-CP Planning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11234"/>
                  </a:ext>
                </a:extLst>
              </a:tr>
            </a:tbl>
          </a:graphicData>
        </a:graphic>
      </p:graphicFrame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53DC4B6-BECA-B2CD-68EB-0438386B5F7C}"/>
              </a:ext>
            </a:extLst>
          </p:cNvPr>
          <p:cNvSpPr/>
          <p:nvPr/>
        </p:nvSpPr>
        <p:spPr>
          <a:xfrm>
            <a:off x="557939" y="4131329"/>
            <a:ext cx="8028122" cy="6199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Nano remains materially behind peers in regulatory licensing progress.</a:t>
            </a:r>
          </a:p>
        </p:txBody>
      </p:sp>
    </p:spTree>
    <p:extLst>
      <p:ext uri="{BB962C8B-B14F-4D97-AF65-F5344CB8AC3E}">
        <p14:creationId xmlns:p14="http://schemas.microsoft.com/office/powerpoint/2010/main" val="168362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B79C-1497-7C2E-1813-C8D2AB0B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/>
              <a:t>Construction Permit &amp; Operating License: Critical Path to Commercialization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7A92D7-FB6A-3828-AC44-FD37BF3E6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312599"/>
              </p:ext>
            </p:extLst>
          </p:nvPr>
        </p:nvGraphicFramePr>
        <p:xfrm>
          <a:off x="713225" y="1355676"/>
          <a:ext cx="7717500" cy="2803771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858750">
                  <a:extLst>
                    <a:ext uri="{9D8B030D-6E8A-4147-A177-3AD203B41FA5}">
                      <a16:colId xmlns:a16="http://schemas.microsoft.com/office/drawing/2014/main" val="1006301629"/>
                    </a:ext>
                  </a:extLst>
                </a:gridCol>
                <a:gridCol w="3858750">
                  <a:extLst>
                    <a:ext uri="{9D8B030D-6E8A-4147-A177-3AD203B41FA5}">
                      <a16:colId xmlns:a16="http://schemas.microsoft.com/office/drawing/2014/main" val="1088447825"/>
                    </a:ext>
                  </a:extLst>
                </a:gridCol>
              </a:tblGrid>
              <a:tr h="514300"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Construction Permit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73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Operating License 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D8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1521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Mandatory approval required before reactor construction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Required before commercial power generation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022106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NRC review is discretionary and time-uncertain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• Submitted only after reactor construction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021194"/>
                  </a:ext>
                </a:extLst>
              </a:tr>
              <a:tr h="76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No U.S. microreactor has received CP approval to date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u="none" strike="noStrike" cap="none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  <a:sym typeface="Arial"/>
                        </a:rPr>
                        <a:t>• Sequential approval delays cash flow generation</a:t>
                      </a: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080625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FC4DBEE-4624-3A09-06A8-C1BC7C8497F1}"/>
              </a:ext>
            </a:extLst>
          </p:cNvPr>
          <p:cNvCxnSpPr>
            <a:cxnSpLocks/>
          </p:cNvCxnSpPr>
          <p:nvPr/>
        </p:nvCxnSpPr>
        <p:spPr>
          <a:xfrm>
            <a:off x="713225" y="1280168"/>
            <a:ext cx="7717500" cy="0"/>
          </a:xfrm>
          <a:prstGeom prst="line">
            <a:avLst/>
          </a:prstGeom>
          <a:ln w="25400">
            <a:solidFill>
              <a:srgbClr val="264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52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>
          <a:extLst>
            <a:ext uri="{FF2B5EF4-FFF2-40B4-BE49-F238E27FC236}">
              <a16:creationId xmlns:a16="http://schemas.microsoft.com/office/drawing/2014/main" id="{852242A6-F372-7940-C2BF-7A27EB0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2">
            <a:extLst>
              <a:ext uri="{FF2B5EF4-FFF2-40B4-BE49-F238E27FC236}">
                <a16:creationId xmlns:a16="http://schemas.microsoft.com/office/drawing/2014/main" id="{C7304338-05C3-E4B4-9EDF-56A593F9F711}"/>
              </a:ext>
            </a:extLst>
          </p:cNvPr>
          <p:cNvSpPr txBox="1"/>
          <p:nvPr/>
        </p:nvSpPr>
        <p:spPr>
          <a:xfrm>
            <a:off x="2041439" y="3353921"/>
            <a:ext cx="1999055" cy="83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Nano Nuclear Energy is </a:t>
            </a:r>
            <a:r>
              <a:rPr lang="en-US" sz="1800" b="1" dirty="0">
                <a:solidFill>
                  <a:srgbClr val="264D9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currently here</a:t>
            </a:r>
          </a:p>
        </p:txBody>
      </p:sp>
      <p:sp>
        <p:nvSpPr>
          <p:cNvPr id="480" name="Google Shape;480;p62">
            <a:extLst>
              <a:ext uri="{FF2B5EF4-FFF2-40B4-BE49-F238E27FC236}">
                <a16:creationId xmlns:a16="http://schemas.microsoft.com/office/drawing/2014/main" id="{AA2B9BEA-0CF6-C9E8-8DB6-76B966A8B3E1}"/>
              </a:ext>
            </a:extLst>
          </p:cNvPr>
          <p:cNvSpPr txBox="1"/>
          <p:nvPr/>
        </p:nvSpPr>
        <p:spPr>
          <a:xfrm>
            <a:off x="220390" y="2627753"/>
            <a:ext cx="1999055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Pre-Development</a:t>
            </a:r>
            <a:endParaRPr sz="2200" dirty="0">
              <a:solidFill>
                <a:schemeClr val="lt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DM Serif Dis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1" name="Google Shape;481;p62">
            <a:extLst>
              <a:ext uri="{FF2B5EF4-FFF2-40B4-BE49-F238E27FC236}">
                <a16:creationId xmlns:a16="http://schemas.microsoft.com/office/drawing/2014/main" id="{EF0282B4-0AC1-F67E-DD59-016772C2F8FD}"/>
              </a:ext>
            </a:extLst>
          </p:cNvPr>
          <p:cNvSpPr txBox="1"/>
          <p:nvPr/>
        </p:nvSpPr>
        <p:spPr>
          <a:xfrm>
            <a:off x="2072267" y="2615194"/>
            <a:ext cx="1937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Pre-Application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2" name="Google Shape;482;p62">
            <a:extLst>
              <a:ext uri="{FF2B5EF4-FFF2-40B4-BE49-F238E27FC236}">
                <a16:creationId xmlns:a16="http://schemas.microsoft.com/office/drawing/2014/main" id="{184DD238-A171-F8F4-207B-8A57EE82C50B}"/>
              </a:ext>
            </a:extLst>
          </p:cNvPr>
          <p:cNvSpPr txBox="1"/>
          <p:nvPr/>
        </p:nvSpPr>
        <p:spPr>
          <a:xfrm>
            <a:off x="5379376" y="2614938"/>
            <a:ext cx="1937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Operating License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3" name="Google Shape;483;p62">
            <a:extLst>
              <a:ext uri="{FF2B5EF4-FFF2-40B4-BE49-F238E27FC236}">
                <a16:creationId xmlns:a16="http://schemas.microsoft.com/office/drawing/2014/main" id="{9FAE79BE-AD48-1DB7-6361-88F0663FFC93}"/>
              </a:ext>
            </a:extLst>
          </p:cNvPr>
          <p:cNvSpPr txBox="1"/>
          <p:nvPr/>
        </p:nvSpPr>
        <p:spPr>
          <a:xfrm>
            <a:off x="3675594" y="2632134"/>
            <a:ext cx="1937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Construction Permit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7" name="Google Shape;507;p62">
            <a:extLst>
              <a:ext uri="{FF2B5EF4-FFF2-40B4-BE49-F238E27FC236}">
                <a16:creationId xmlns:a16="http://schemas.microsoft.com/office/drawing/2014/main" id="{2179C50D-0A9F-7EDB-E11B-6669C1B26ECB}"/>
              </a:ext>
            </a:extLst>
          </p:cNvPr>
          <p:cNvSpPr/>
          <p:nvPr/>
        </p:nvSpPr>
        <p:spPr>
          <a:xfrm>
            <a:off x="279659" y="2429546"/>
            <a:ext cx="8377046" cy="47676"/>
          </a:xfrm>
          <a:prstGeom prst="rect">
            <a:avLst/>
          </a:prstGeom>
          <a:solidFill>
            <a:srgbClr val="264D90"/>
          </a:solidFill>
          <a:ln w="9525" cap="flat" cmpd="sng">
            <a:solidFill>
              <a:srgbClr val="264D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" name="Google Shape;482;p62">
            <a:extLst>
              <a:ext uri="{FF2B5EF4-FFF2-40B4-BE49-F238E27FC236}">
                <a16:creationId xmlns:a16="http://schemas.microsoft.com/office/drawing/2014/main" id="{429C87A9-EC7A-A6FF-3042-EBB64B41C61E}"/>
              </a:ext>
            </a:extLst>
          </p:cNvPr>
          <p:cNvSpPr txBox="1"/>
          <p:nvPr/>
        </p:nvSpPr>
        <p:spPr>
          <a:xfrm>
            <a:off x="6966927" y="2632134"/>
            <a:ext cx="1937400" cy="2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350" rIns="91425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Commercial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DM Serif Display"/>
              </a:rPr>
              <a:t>Scaling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68" name="Title 1">
            <a:extLst>
              <a:ext uri="{FF2B5EF4-FFF2-40B4-BE49-F238E27FC236}">
                <a16:creationId xmlns:a16="http://schemas.microsoft.com/office/drawing/2014/main" id="{00449A04-AEF4-8B3D-9B91-9703065A1A1D}"/>
              </a:ext>
            </a:extLst>
          </p:cNvPr>
          <p:cNvSpPr txBox="1">
            <a:spLocks/>
          </p:cNvSpPr>
          <p:nvPr/>
        </p:nvSpPr>
        <p:spPr>
          <a:xfrm>
            <a:off x="677658" y="266798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/>
              <a:t>NRC Licensing Milestones &amp; Commercial Development Timeline</a:t>
            </a:r>
          </a:p>
        </p:txBody>
      </p:sp>
      <p:sp>
        <p:nvSpPr>
          <p:cNvPr id="470" name="Oval 469">
            <a:extLst>
              <a:ext uri="{FF2B5EF4-FFF2-40B4-BE49-F238E27FC236}">
                <a16:creationId xmlns:a16="http://schemas.microsoft.com/office/drawing/2014/main" id="{56437D1B-F4E3-43C9-45AF-BE14290A9301}"/>
              </a:ext>
            </a:extLst>
          </p:cNvPr>
          <p:cNvSpPr/>
          <p:nvPr/>
        </p:nvSpPr>
        <p:spPr>
          <a:xfrm>
            <a:off x="984006" y="2249673"/>
            <a:ext cx="448733" cy="360249"/>
          </a:xfrm>
          <a:prstGeom prst="ellipse">
            <a:avLst/>
          </a:prstGeom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6936B5D7-D93E-CD6D-BCB2-4081FDED5AF6}"/>
              </a:ext>
            </a:extLst>
          </p:cNvPr>
          <p:cNvSpPr/>
          <p:nvPr/>
        </p:nvSpPr>
        <p:spPr>
          <a:xfrm>
            <a:off x="2753828" y="2251187"/>
            <a:ext cx="448733" cy="360249"/>
          </a:xfrm>
          <a:prstGeom prst="ellipse">
            <a:avLst/>
          </a:prstGeom>
          <a:solidFill>
            <a:srgbClr val="264D90"/>
          </a:solidFill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2" name="Oval 471">
            <a:extLst>
              <a:ext uri="{FF2B5EF4-FFF2-40B4-BE49-F238E27FC236}">
                <a16:creationId xmlns:a16="http://schemas.microsoft.com/office/drawing/2014/main" id="{A8876167-53FD-F23C-BB33-FF545E36092E}"/>
              </a:ext>
            </a:extLst>
          </p:cNvPr>
          <p:cNvSpPr/>
          <p:nvPr/>
        </p:nvSpPr>
        <p:spPr>
          <a:xfrm>
            <a:off x="4344178" y="2239849"/>
            <a:ext cx="448733" cy="360249"/>
          </a:xfrm>
          <a:prstGeom prst="ellipse">
            <a:avLst/>
          </a:prstGeom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3" name="Oval 472">
            <a:extLst>
              <a:ext uri="{FF2B5EF4-FFF2-40B4-BE49-F238E27FC236}">
                <a16:creationId xmlns:a16="http://schemas.microsoft.com/office/drawing/2014/main" id="{28B47C2E-1D59-8032-EB0C-8A4F3763EAB4}"/>
              </a:ext>
            </a:extLst>
          </p:cNvPr>
          <p:cNvSpPr/>
          <p:nvPr/>
        </p:nvSpPr>
        <p:spPr>
          <a:xfrm>
            <a:off x="6034016" y="2249673"/>
            <a:ext cx="448733" cy="360249"/>
          </a:xfrm>
          <a:prstGeom prst="ellipse">
            <a:avLst/>
          </a:prstGeom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8CDAAFC-6DBC-CE07-2778-2C4461828923}"/>
              </a:ext>
            </a:extLst>
          </p:cNvPr>
          <p:cNvSpPr/>
          <p:nvPr/>
        </p:nvSpPr>
        <p:spPr>
          <a:xfrm>
            <a:off x="7704350" y="2237914"/>
            <a:ext cx="448733" cy="360249"/>
          </a:xfrm>
          <a:prstGeom prst="ellipse">
            <a:avLst/>
          </a:prstGeom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3" name="Graphic 522" descr="Clipboard Partially Checked outline">
            <a:extLst>
              <a:ext uri="{FF2B5EF4-FFF2-40B4-BE49-F238E27FC236}">
                <a16:creationId xmlns:a16="http://schemas.microsoft.com/office/drawing/2014/main" id="{B35DB2E0-EF7E-D8A6-F022-78D4FCE68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4171" y="1687879"/>
            <a:ext cx="565189" cy="565189"/>
          </a:xfrm>
          <a:prstGeom prst="rect">
            <a:avLst/>
          </a:prstGeom>
        </p:spPr>
      </p:pic>
      <p:pic>
        <p:nvPicPr>
          <p:cNvPr id="537" name="Graphic 536" descr="Lights On outline">
            <a:extLst>
              <a:ext uri="{FF2B5EF4-FFF2-40B4-BE49-F238E27FC236}">
                <a16:creationId xmlns:a16="http://schemas.microsoft.com/office/drawing/2014/main" id="{F5913E50-07F3-94FD-D9FB-96F618B25A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777" y="1658143"/>
            <a:ext cx="565189" cy="565189"/>
          </a:xfrm>
          <a:prstGeom prst="rect">
            <a:avLst/>
          </a:prstGeom>
        </p:spPr>
      </p:pic>
      <p:pic>
        <p:nvPicPr>
          <p:cNvPr id="551" name="Graphic 550" descr="Dollar outline">
            <a:extLst>
              <a:ext uri="{FF2B5EF4-FFF2-40B4-BE49-F238E27FC236}">
                <a16:creationId xmlns:a16="http://schemas.microsoft.com/office/drawing/2014/main" id="{56529499-07D9-D6AE-B62C-67CF1E4AD7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2665" y="1749466"/>
            <a:ext cx="478201" cy="478201"/>
          </a:xfrm>
          <a:prstGeom prst="rect">
            <a:avLst/>
          </a:prstGeom>
        </p:spPr>
      </p:pic>
      <p:pic>
        <p:nvPicPr>
          <p:cNvPr id="553" name="Graphic 552" descr="Construction worker male outline">
            <a:extLst>
              <a:ext uri="{FF2B5EF4-FFF2-40B4-BE49-F238E27FC236}">
                <a16:creationId xmlns:a16="http://schemas.microsoft.com/office/drawing/2014/main" id="{0915818C-4107-2023-6D1C-F671E027CF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0830" y="1749466"/>
            <a:ext cx="518731" cy="510416"/>
          </a:xfrm>
          <a:prstGeom prst="rect">
            <a:avLst/>
          </a:prstGeom>
        </p:spPr>
      </p:pic>
      <p:pic>
        <p:nvPicPr>
          <p:cNvPr id="555" name="Graphic 554" descr="Checkbox Checked outline">
            <a:extLst>
              <a:ext uri="{FF2B5EF4-FFF2-40B4-BE49-F238E27FC236}">
                <a16:creationId xmlns:a16="http://schemas.microsoft.com/office/drawing/2014/main" id="{4A783CCF-8C57-6334-BFBC-016DD5EC95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4528" y="1669259"/>
            <a:ext cx="666388" cy="66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2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4EA8-B265-5EF5-5386-9A19CD02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10893"/>
            <a:ext cx="8458200" cy="478200"/>
          </a:xfrm>
        </p:spPr>
        <p:txBody>
          <a:bodyPr/>
          <a:lstStyle/>
          <a:p>
            <a:pPr algn="ctr"/>
            <a:r>
              <a:rPr lang="en-US" sz="3200" dirty="0"/>
              <a:t>Capital Structure &amp; Liquidity Position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EED384-A130-8D13-8496-614FCF853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918812"/>
              </p:ext>
            </p:extLst>
          </p:nvPr>
        </p:nvGraphicFramePr>
        <p:xfrm>
          <a:off x="304800" y="978748"/>
          <a:ext cx="3987801" cy="3794996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987801">
                  <a:extLst>
                    <a:ext uri="{9D8B030D-6E8A-4147-A177-3AD203B41FA5}">
                      <a16:colId xmlns:a16="http://schemas.microsoft.com/office/drawing/2014/main" val="4036125186"/>
                    </a:ext>
                  </a:extLst>
                </a:gridCol>
              </a:tblGrid>
              <a:tr h="51138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Liquidity and Cash Position</a:t>
                      </a:r>
                    </a:p>
                  </a:txBody>
                  <a:tcPr>
                    <a:solidFill>
                      <a:srgbClr val="6D8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479895"/>
                  </a:ext>
                </a:extLst>
              </a:tr>
              <a:tr h="114212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$203M Cash &amp; ST Investments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$2.8M Total Interest-Bearing Debt</a:t>
                      </a:r>
                    </a:p>
                    <a:p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$200.5M Net Cash Position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Current Ratio ≈53.4x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744339"/>
                  </a:ext>
                </a:extLst>
              </a:tr>
              <a:tr h="4491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Cash Burn Profile</a:t>
                      </a:r>
                    </a:p>
                  </a:txBody>
                  <a:tcPr>
                    <a:solidFill>
                      <a:srgbClr val="E85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5204"/>
                  </a:ext>
                </a:extLst>
              </a:tr>
              <a:tr h="164575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FY25 FCF: 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-$(28)M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~7-year runway at current burn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Runway likely declines as licensing &amp; capex scale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723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3022AB-34FD-1E4B-8933-03BCD3DD4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546245"/>
              </p:ext>
            </p:extLst>
          </p:nvPr>
        </p:nvGraphicFramePr>
        <p:xfrm>
          <a:off x="4571975" y="978748"/>
          <a:ext cx="4267225" cy="1628985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4267225">
                  <a:extLst>
                    <a:ext uri="{9D8B030D-6E8A-4147-A177-3AD203B41FA5}">
                      <a16:colId xmlns:a16="http://schemas.microsoft.com/office/drawing/2014/main" val="427601026"/>
                    </a:ext>
                  </a:extLst>
                </a:gridCol>
              </a:tblGrid>
              <a:tr h="44026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Capital Structure</a:t>
                      </a:r>
                    </a:p>
                  </a:txBody>
                  <a:tcPr>
                    <a:solidFill>
                      <a:srgbClr val="264D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111744"/>
                  </a:ext>
                </a:extLst>
              </a:tr>
              <a:tr h="118823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$212M equity raised through FY25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52.3M</a:t>
                      </a: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fully diluted shares outstanding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 meaningful financial leverage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58245"/>
                  </a:ext>
                </a:extLst>
              </a:tr>
            </a:tbl>
          </a:graphicData>
        </a:graphic>
      </p:graphicFrame>
      <p:pic>
        <p:nvPicPr>
          <p:cNvPr id="11" name="Picture 10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56C0BE3-1A34-FF0D-486C-D6A55395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003" y="2711127"/>
            <a:ext cx="3519168" cy="234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7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53B7-756E-38AC-3BB8-075BF8BE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53229"/>
            <a:ext cx="7717500" cy="478200"/>
          </a:xfrm>
        </p:spPr>
        <p:txBody>
          <a:bodyPr/>
          <a:lstStyle/>
          <a:p>
            <a:pPr algn="ctr"/>
            <a:r>
              <a:rPr lang="en-US" sz="3200" dirty="0"/>
              <a:t>Operating Loss Acceleration &amp; Cost Drivers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389F76-C971-E3C1-DD60-97C33DB8D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938204"/>
              </p:ext>
            </p:extLst>
          </p:nvPr>
        </p:nvGraphicFramePr>
        <p:xfrm>
          <a:off x="5950040" y="1265603"/>
          <a:ext cx="3058492" cy="3026997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058492">
                  <a:extLst>
                    <a:ext uri="{9D8B030D-6E8A-4147-A177-3AD203B41FA5}">
                      <a16:colId xmlns:a16="http://schemas.microsoft.com/office/drawing/2014/main" val="1578824704"/>
                    </a:ext>
                  </a:extLst>
                </a:gridCol>
              </a:tblGrid>
              <a:tr h="3026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Pre-Revenue Stage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SG&amp;A represented ~95–100% of operating losses (FY22–FY25)</a:t>
                      </a:r>
                      <a:b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SG&amp;A increased ~4x YoY (FY24 → FY25)</a:t>
                      </a:r>
                      <a:b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</a:br>
                      <a:r>
                        <a:rPr lang="en-US" sz="20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Equity issuance funded operating cash burn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785381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DEAD665-6AFE-85CB-1B4D-79BDBB96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33" y="1083733"/>
            <a:ext cx="4939223" cy="37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74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EFBE3-9512-7558-F1F1-1A1DDA7F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17" y="339618"/>
            <a:ext cx="8280933" cy="478200"/>
          </a:xfrm>
        </p:spPr>
        <p:txBody>
          <a:bodyPr/>
          <a:lstStyle/>
          <a:p>
            <a:pPr algn="ctr"/>
            <a:r>
              <a:rPr lang="en-US" sz="3200" dirty="0"/>
              <a:t>Optimistic Operating &amp; Commercialization Assumptions for Financial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0759C7-AE8A-7372-444F-550AE9DDF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754977"/>
              </p:ext>
            </p:extLst>
          </p:nvPr>
        </p:nvGraphicFramePr>
        <p:xfrm>
          <a:off x="469317" y="1082240"/>
          <a:ext cx="3762217" cy="158496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762217">
                  <a:extLst>
                    <a:ext uri="{9D8B030D-6E8A-4147-A177-3AD203B41FA5}">
                      <a16:colId xmlns:a16="http://schemas.microsoft.com/office/drawing/2014/main" val="426263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Revenue Growth</a:t>
                      </a:r>
                    </a:p>
                  </a:txBody>
                  <a:tcPr>
                    <a:solidFill>
                      <a:srgbClr val="4873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3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2033-2037 Revenue CAGR: 42%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Reactor commercialization begins 2033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(2 units → 7 units by 2037)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2416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EC2CD5-2F11-DF06-8AD6-CFBA12F9F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549046"/>
              </p:ext>
            </p:extLst>
          </p:nvPr>
        </p:nvGraphicFramePr>
        <p:xfrm>
          <a:off x="306585" y="2835028"/>
          <a:ext cx="4203917" cy="185928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4203917">
                  <a:extLst>
                    <a:ext uri="{9D8B030D-6E8A-4147-A177-3AD203B41FA5}">
                      <a16:colId xmlns:a16="http://schemas.microsoft.com/office/drawing/2014/main" val="426263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Margins Expansion</a:t>
                      </a:r>
                    </a:p>
                  </a:txBody>
                  <a:tcPr>
                    <a:solidFill>
                      <a:srgbClr val="6D8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3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Gross margins expand from 39.5% → 71%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 EBITDA margins exceed 60% during scale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Implies strong operating leverage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241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0E5456-82F7-68A3-16C5-A7945F0F9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85866"/>
              </p:ext>
            </p:extLst>
          </p:nvPr>
        </p:nvGraphicFramePr>
        <p:xfrm>
          <a:off x="4912468" y="1082240"/>
          <a:ext cx="3957562" cy="158496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957562">
                  <a:extLst>
                    <a:ext uri="{9D8B030D-6E8A-4147-A177-3AD203B41FA5}">
                      <a16:colId xmlns:a16="http://schemas.microsoft.com/office/drawing/2014/main" val="426263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Revenue Mix Shift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3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Reactor segment scales to ~25-28% of revenue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 Consulting remains core revenue driver pre-full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241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77435C-A35A-FD9D-433B-E4CB54B53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52637"/>
              </p:ext>
            </p:extLst>
          </p:nvPr>
        </p:nvGraphicFramePr>
        <p:xfrm>
          <a:off x="5138814" y="2972188"/>
          <a:ext cx="3349889" cy="158496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349889">
                  <a:extLst>
                    <a:ext uri="{9D8B030D-6E8A-4147-A177-3AD203B41FA5}">
                      <a16:colId xmlns:a16="http://schemas.microsoft.com/office/drawing/2014/main" val="426263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Unit Economics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3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 $40M revenue per 15 MWe KRONOS unit</a:t>
                      </a:r>
                    </a:p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 ~$130M capex per unit (~$8.7k/kW)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2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44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6342-FA53-8249-9520-BE81AAC1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67" y="305998"/>
            <a:ext cx="8458200" cy="478200"/>
          </a:xfrm>
        </p:spPr>
        <p:txBody>
          <a:bodyPr/>
          <a:lstStyle/>
          <a:p>
            <a:pPr algn="ctr"/>
            <a:r>
              <a:rPr lang="en-US" sz="3200" dirty="0"/>
              <a:t>Our Valuation Framework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98E7CE-1D17-D2B1-ABC1-D03F6541A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880205"/>
              </p:ext>
            </p:extLst>
          </p:nvPr>
        </p:nvGraphicFramePr>
        <p:xfrm>
          <a:off x="170391" y="907632"/>
          <a:ext cx="8914342" cy="199644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8914342">
                  <a:extLst>
                    <a:ext uri="{9D8B030D-6E8A-4147-A177-3AD203B41FA5}">
                      <a16:colId xmlns:a16="http://schemas.microsoft.com/office/drawing/2014/main" val="2413101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Primary Method: Intrinsic DCF</a:t>
                      </a:r>
                    </a:p>
                  </a:txBody>
                  <a:tcPr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891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Cash flows assume successful KRONOS commercialization beginning in 2033</a:t>
                      </a:r>
                    </a:p>
                    <a:p>
                      <a:pPr marL="285750" indent="-28575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5-year discrete forecast </a:t>
                      </a: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(2033–2037)</a:t>
                      </a:r>
                    </a:p>
                    <a:p>
                      <a:pPr marL="285750" indent="-28575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Terminal value </a:t>
                      </a: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estimated using </a:t>
                      </a:r>
                      <a:r>
                        <a:rPr lang="en-US" sz="18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perpetual growth method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17.1% WACC</a:t>
                      </a:r>
                      <a:r>
                        <a:rPr lang="en-US" sz="185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incorporates licensing, execution, and commercialization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920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923FFB-5681-5908-855D-37455BD9C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165079"/>
              </p:ext>
            </p:extLst>
          </p:nvPr>
        </p:nvGraphicFramePr>
        <p:xfrm>
          <a:off x="1338791" y="3125719"/>
          <a:ext cx="6096000" cy="131064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59424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50" b="1" dirty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Cross-Check: DCF Exit Multiple Method </a:t>
                      </a:r>
                    </a:p>
                  </a:txBody>
                  <a:tcPr>
                    <a:solidFill>
                      <a:srgbClr val="6D8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79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Terminal Value cross checked using EV/EBITDA Multiple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5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6x EV/EBITDA Multiple will be used here</a:t>
                      </a:r>
                      <a:endParaRPr lang="en-US" sz="18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4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46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A653FA-1D0C-CBFD-6197-D4FF4140B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080841"/>
              </p:ext>
            </p:extLst>
          </p:nvPr>
        </p:nvGraphicFramePr>
        <p:xfrm>
          <a:off x="6595510" y="1177558"/>
          <a:ext cx="2396067" cy="115824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algn="ctr"/>
                      <a:r>
                        <a:rPr lang="en-US" sz="195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Implied Downside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A3AF08-DE53-3A3C-4760-C2F459817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179753"/>
              </p:ext>
            </p:extLst>
          </p:nvPr>
        </p:nvGraphicFramePr>
        <p:xfrm>
          <a:off x="6595510" y="2807703"/>
          <a:ext cx="2396067" cy="86106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323420">
                <a:tc>
                  <a:txBody>
                    <a:bodyPr/>
                    <a:lstStyle/>
                    <a:p>
                      <a:pPr algn="ctr"/>
                      <a:r>
                        <a:rPr lang="en-US" sz="195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Rating: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3A3C9E-2CA5-A5F0-269D-B9996E1820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831303"/>
              </p:ext>
            </p:extLst>
          </p:nvPr>
        </p:nvGraphicFramePr>
        <p:xfrm>
          <a:off x="548779" y="993567"/>
          <a:ext cx="5882285" cy="3156365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5882285">
                  <a:extLst>
                    <a:ext uri="{9D8B030D-6E8A-4147-A177-3AD203B41FA5}">
                      <a16:colId xmlns:a16="http://schemas.microsoft.com/office/drawing/2014/main" val="2413101865"/>
                    </a:ext>
                  </a:extLst>
                </a:gridCol>
              </a:tblGrid>
              <a:tr h="4803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Primary Method: Intrinsic DCF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4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891546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Enterprise Value.                                   656.90M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920236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Add: Net Cash                                        200.50M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3578220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 Equity Value                                        857.40M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841162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Shares Outstanding (Diluted)                 53.2M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441621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Implied Share Price                                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$16.11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015869"/>
                  </a:ext>
                </a:extLst>
              </a:tr>
              <a:tr h="4460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Current Price (As of </a:t>
                      </a: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 16, 2026)        </a:t>
                      </a:r>
                      <a:r>
                        <a:rPr lang="en-US" sz="2000" b="1" dirty="0">
                          <a:solidFill>
                            <a:srgbClr val="48739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$24.79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0082226"/>
                  </a:ext>
                </a:extLst>
              </a:tr>
            </a:tbl>
          </a:graphicData>
        </a:graphic>
      </p:graphicFrame>
      <p:sp>
        <p:nvSpPr>
          <p:cNvPr id="14" name="Title 1">
            <a:extLst>
              <a:ext uri="{FF2B5EF4-FFF2-40B4-BE49-F238E27FC236}">
                <a16:creationId xmlns:a16="http://schemas.microsoft.com/office/drawing/2014/main" id="{0A7442F4-C6F5-6BA5-3745-F084C1807908}"/>
              </a:ext>
            </a:extLst>
          </p:cNvPr>
          <p:cNvSpPr txBox="1">
            <a:spLocks/>
          </p:cNvSpPr>
          <p:nvPr/>
        </p:nvSpPr>
        <p:spPr>
          <a:xfrm>
            <a:off x="474107" y="237738"/>
            <a:ext cx="8458200" cy="4782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/>
              <a:t>Intrinsic Valuation – DCF Results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88345B-8052-D956-81AD-97C521D4CF3A}"/>
              </a:ext>
            </a:extLst>
          </p:cNvPr>
          <p:cNvCxnSpPr>
            <a:cxnSpLocks/>
          </p:cNvCxnSpPr>
          <p:nvPr/>
        </p:nvCxnSpPr>
        <p:spPr>
          <a:xfrm>
            <a:off x="635001" y="3238233"/>
            <a:ext cx="5470751" cy="0"/>
          </a:xfrm>
          <a:prstGeom prst="line">
            <a:avLst/>
          </a:prstGeom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381125-C8C7-6624-00A4-2212AFFEED4C}"/>
              </a:ext>
            </a:extLst>
          </p:cNvPr>
          <p:cNvCxnSpPr>
            <a:cxnSpLocks/>
          </p:cNvCxnSpPr>
          <p:nvPr/>
        </p:nvCxnSpPr>
        <p:spPr>
          <a:xfrm>
            <a:off x="635001" y="3660296"/>
            <a:ext cx="5470751" cy="0"/>
          </a:xfrm>
          <a:prstGeom prst="line">
            <a:avLst/>
          </a:prstGeom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692C4E-7603-5AB7-48E8-314F6AC0EAC2}"/>
              </a:ext>
            </a:extLst>
          </p:cNvPr>
          <p:cNvCxnSpPr>
            <a:cxnSpLocks/>
          </p:cNvCxnSpPr>
          <p:nvPr/>
        </p:nvCxnSpPr>
        <p:spPr>
          <a:xfrm>
            <a:off x="548779" y="4149932"/>
            <a:ext cx="5470751" cy="0"/>
          </a:xfrm>
          <a:prstGeom prst="line">
            <a:avLst/>
          </a:prstGeom>
          <a:ln w="1270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473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92DDE8-604E-58A2-B841-239B1F81B27B}"/>
              </a:ext>
            </a:extLst>
          </p:cNvPr>
          <p:cNvSpPr txBox="1">
            <a:spLocks/>
          </p:cNvSpPr>
          <p:nvPr/>
        </p:nvSpPr>
        <p:spPr>
          <a:xfrm>
            <a:off x="325941" y="287991"/>
            <a:ext cx="8458200" cy="478200"/>
          </a:xfrm>
          <a:prstGeom prst="rect">
            <a:avLst/>
          </a:prstGeom>
          <a:solidFill>
            <a:schemeClr val="accent6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erif Display"/>
              <a:buNone/>
              <a:defRPr sz="28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/>
              <a:t>Sensitivity Analysis – Implied Share Price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5C00095-03BE-DD06-33E0-181BB7ECC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48118"/>
              </p:ext>
            </p:extLst>
          </p:nvPr>
        </p:nvGraphicFramePr>
        <p:xfrm>
          <a:off x="6654852" y="1394883"/>
          <a:ext cx="2171674" cy="295656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171674">
                  <a:extLst>
                    <a:ext uri="{9D8B030D-6E8A-4147-A177-3AD203B41FA5}">
                      <a16:colId xmlns:a16="http://schemas.microsoft.com/office/drawing/2014/main" val="451804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Base case ≈$16/share</a:t>
                      </a:r>
                      <a:endParaRPr lang="en-US" sz="22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657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Valuation highly sensitive to WACC</a:t>
                      </a:r>
                      <a:endParaRPr lang="en-US" sz="22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3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• Cost of capital drives downside risk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240224"/>
                  </a:ext>
                </a:extLst>
              </a:tr>
            </a:tbl>
          </a:graphicData>
        </a:graphic>
      </p:graphicFrame>
      <p:pic>
        <p:nvPicPr>
          <p:cNvPr id="44" name="Picture 43" descr="A screenshot of a graph&#10;&#10;AI-generated content may be incorrect.">
            <a:extLst>
              <a:ext uri="{FF2B5EF4-FFF2-40B4-BE49-F238E27FC236}">
                <a16:creationId xmlns:a16="http://schemas.microsoft.com/office/drawing/2014/main" id="{E2230F1C-8843-31F1-4CB8-21D5B79AF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41" y="929215"/>
            <a:ext cx="6083326" cy="405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78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14D6-671B-26A0-0453-AA53D0C2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8" y="209342"/>
            <a:ext cx="8418046" cy="478200"/>
          </a:xfrm>
          <a:solidFill>
            <a:schemeClr val="dk1"/>
          </a:solidFill>
          <a:ln w="25400"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Valuation Cross-Check – Exit Multiple Method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478010-CCC5-CE75-19B6-61C204EBB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780431"/>
              </p:ext>
            </p:extLst>
          </p:nvPr>
        </p:nvGraphicFramePr>
        <p:xfrm>
          <a:off x="594691" y="865608"/>
          <a:ext cx="5553393" cy="314790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5553393">
                  <a:extLst>
                    <a:ext uri="{9D8B030D-6E8A-4147-A177-3AD203B41FA5}">
                      <a16:colId xmlns:a16="http://schemas.microsoft.com/office/drawing/2014/main" val="2413101865"/>
                    </a:ext>
                  </a:extLst>
                </a:gridCol>
              </a:tblGrid>
              <a:tr h="521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500" b="1" dirty="0">
                          <a:solidFill>
                            <a:schemeClr val="tx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Cross Check: Exit Multiple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D8F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9891546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Enterprise Value                                    966.30M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5920236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Add: Net Cash                                        200.50M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3578220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= Equity Value                                     1,166.80M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841162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Shares Outstanding (Diluted)                 53.2M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441621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Implied Share Price                                 </a:t>
                      </a: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$21.93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015869"/>
                  </a:ext>
                </a:extLst>
              </a:tr>
              <a:tr h="4376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Current Price (As of </a:t>
                      </a:r>
                      <a:r>
                        <a:rPr lang="en-US" sz="20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 16, 2026)        </a:t>
                      </a:r>
                      <a:r>
                        <a:rPr lang="en-US" sz="2000" b="1" dirty="0">
                          <a:solidFill>
                            <a:srgbClr val="48739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$24.79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008222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C43306-CE27-9C7C-0AFD-3D7B3059F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93636"/>
              </p:ext>
            </p:extLst>
          </p:nvPr>
        </p:nvGraphicFramePr>
        <p:xfrm>
          <a:off x="6447337" y="865608"/>
          <a:ext cx="2396067" cy="117348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Implied Downside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C0000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-11.54%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4E898F-F472-5EE1-2175-90D516367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49231"/>
              </p:ext>
            </p:extLst>
          </p:nvPr>
        </p:nvGraphicFramePr>
        <p:xfrm>
          <a:off x="6447337" y="2306628"/>
          <a:ext cx="2396067" cy="172212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396067">
                  <a:extLst>
                    <a:ext uri="{9D8B030D-6E8A-4147-A177-3AD203B41FA5}">
                      <a16:colId xmlns:a16="http://schemas.microsoft.com/office/drawing/2014/main" val="2318783180"/>
                    </a:ext>
                  </a:extLst>
                </a:gridCol>
              </a:tblGrid>
              <a:tr h="29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EV/EBITDA Multiple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65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6x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26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50" dirty="0"/>
                        <a:t>Conservative relative to forecast</a:t>
                      </a:r>
                      <a:endParaRPr lang="en-US" sz="165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49606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FAF25B-7638-81DB-0F30-5A22EE763BAB}"/>
              </a:ext>
            </a:extLst>
          </p:cNvPr>
          <p:cNvSpPr/>
          <p:nvPr/>
        </p:nvSpPr>
        <p:spPr>
          <a:xfrm>
            <a:off x="778766" y="4191574"/>
            <a:ext cx="7586467" cy="478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Exit multiple cross-check supports </a:t>
            </a:r>
            <a:r>
              <a:rPr lang="en-US" sz="20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SELL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recommendation.</a:t>
            </a:r>
          </a:p>
          <a:p>
            <a:pPr algn="ctr"/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15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34BC-C382-D052-66D3-C7BFC2D72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E892-AAC1-AC5E-C0E6-4BA75E95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dirty="0"/>
              <a:t>Investment Risks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3B3136-DC45-7F03-A215-962C8D40E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095565"/>
              </p:ext>
            </p:extLst>
          </p:nvPr>
        </p:nvGraphicFramePr>
        <p:xfrm>
          <a:off x="713225" y="1102368"/>
          <a:ext cx="7717500" cy="2502888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3697908">
                  <a:extLst>
                    <a:ext uri="{9D8B030D-6E8A-4147-A177-3AD203B41FA5}">
                      <a16:colId xmlns:a16="http://schemas.microsoft.com/office/drawing/2014/main" val="674939009"/>
                    </a:ext>
                  </a:extLst>
                </a:gridCol>
                <a:gridCol w="4019592">
                  <a:extLst>
                    <a:ext uri="{9D8B030D-6E8A-4147-A177-3AD203B41FA5}">
                      <a16:colId xmlns:a16="http://schemas.microsoft.com/office/drawing/2014/main" val="3559292105"/>
                    </a:ext>
                  </a:extLst>
                </a:gridCol>
              </a:tblGrid>
              <a:tr h="744912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Operational &amp; Regulatory Risks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500" b="1" dirty="0">
                          <a:solidFill>
                            <a:srgbClr val="264D90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Financial &amp; Capital Risks</a:t>
                      </a:r>
                    </a:p>
                  </a:txBody>
                  <a:tcPr>
                    <a:lnL w="12700" cap="flat" cmpd="sng" algn="ctr">
                      <a:solidFill>
                        <a:srgbClr val="264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675898"/>
                  </a:ext>
                </a:extLst>
              </a:tr>
              <a:tr h="1649448">
                <a:tc>
                  <a:txBody>
                    <a:bodyPr/>
                    <a:lstStyle/>
                    <a:p>
                      <a:pPr marL="482600" indent="-34290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>
                              <a:lumMod val="2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Licensing &amp; Cost Escalation Risks</a:t>
                      </a:r>
                    </a:p>
                    <a:p>
                      <a:pPr marL="482600" indent="-34290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>
                              <a:lumMod val="2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Liquidity &amp; Execution Risks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482600" indent="-34290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>
                              <a:lumMod val="2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External Funding Dependence</a:t>
                      </a:r>
                    </a:p>
                    <a:p>
                      <a:pPr marL="482600" indent="-342900"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200" dirty="0">
                          <a:solidFill>
                            <a:schemeClr val="tx1">
                              <a:lumMod val="25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Equity Dilution Risk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500" b="1" dirty="0">
                        <a:solidFill>
                          <a:srgbClr val="264D90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64D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08437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9598DC-0518-3CFB-6437-F6BC7BF0A330}"/>
              </a:ext>
            </a:extLst>
          </p:cNvPr>
          <p:cNvCxnSpPr>
            <a:cxnSpLocks/>
          </p:cNvCxnSpPr>
          <p:nvPr/>
        </p:nvCxnSpPr>
        <p:spPr>
          <a:xfrm>
            <a:off x="713225" y="1017700"/>
            <a:ext cx="7717500" cy="0"/>
          </a:xfrm>
          <a:prstGeom prst="line">
            <a:avLst/>
          </a:prstGeom>
          <a:ln w="25400">
            <a:solidFill>
              <a:srgbClr val="264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63A275-631E-EAC2-2D1A-5F9CB3CEBB25}"/>
              </a:ext>
            </a:extLst>
          </p:cNvPr>
          <p:cNvCxnSpPr/>
          <p:nvPr/>
        </p:nvCxnSpPr>
        <p:spPr>
          <a:xfrm>
            <a:off x="1227667" y="1947335"/>
            <a:ext cx="2726267" cy="0"/>
          </a:xfrm>
          <a:prstGeom prst="line">
            <a:avLst/>
          </a:prstGeom>
          <a:ln w="12700">
            <a:solidFill>
              <a:srgbClr val="264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4B3D020-471D-69E4-1B53-73892E302FB9}"/>
              </a:ext>
            </a:extLst>
          </p:cNvPr>
          <p:cNvCxnSpPr>
            <a:cxnSpLocks/>
          </p:cNvCxnSpPr>
          <p:nvPr/>
        </p:nvCxnSpPr>
        <p:spPr>
          <a:xfrm>
            <a:off x="4851405" y="1947335"/>
            <a:ext cx="3285067" cy="0"/>
          </a:xfrm>
          <a:prstGeom prst="line">
            <a:avLst/>
          </a:prstGeom>
          <a:ln w="12700">
            <a:solidFill>
              <a:srgbClr val="264D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74E5B5C-847E-6C39-01B6-00977641706D}"/>
              </a:ext>
            </a:extLst>
          </p:cNvPr>
          <p:cNvSpPr/>
          <p:nvPr/>
        </p:nvSpPr>
        <p:spPr>
          <a:xfrm>
            <a:off x="1185000" y="3804780"/>
            <a:ext cx="6773949" cy="6454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risks may extend timelines, increase capital needs, and constrain shareholder returns.</a:t>
            </a:r>
            <a:endParaRPr lang="en-US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53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0558C194-8DF0-E1D2-E348-7995B536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0">
            <a:extLst>
              <a:ext uri="{FF2B5EF4-FFF2-40B4-BE49-F238E27FC236}">
                <a16:creationId xmlns:a16="http://schemas.microsoft.com/office/drawing/2014/main" id="{37FBDC01-5863-DC67-036A-F51D3BE8AA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75" y="346139"/>
            <a:ext cx="797355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3150" dirty="0"/>
              <a:t>ESG Factors Increase Cost of Capital and Commercialization Risk</a:t>
            </a:r>
            <a:endParaRPr sz="315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45F9E7C-4C45-C044-199C-F94A36BCC7C3}"/>
              </a:ext>
            </a:extLst>
          </p:cNvPr>
          <p:cNvSpPr/>
          <p:nvPr/>
        </p:nvSpPr>
        <p:spPr>
          <a:xfrm>
            <a:off x="908754" y="1121998"/>
            <a:ext cx="2464553" cy="373237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009051"/>
                </a:solidFill>
              </a:rPr>
              <a:t>Environmental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990A264-496F-5098-4F25-059795E54C48}"/>
              </a:ext>
            </a:extLst>
          </p:cNvPr>
          <p:cNvSpPr/>
          <p:nvPr/>
        </p:nvSpPr>
        <p:spPr>
          <a:xfrm>
            <a:off x="4047874" y="1142566"/>
            <a:ext cx="1267260" cy="33209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264D90"/>
                </a:solidFill>
              </a:rPr>
              <a:t>Social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9ED15D4-BCF0-E04C-0C5C-04010A1A1A43}"/>
              </a:ext>
            </a:extLst>
          </p:cNvPr>
          <p:cNvSpPr/>
          <p:nvPr/>
        </p:nvSpPr>
        <p:spPr>
          <a:xfrm>
            <a:off x="6163735" y="1172562"/>
            <a:ext cx="2071511" cy="272106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rgbClr val="C00000"/>
                </a:solidFill>
              </a:rPr>
              <a:t>Governance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5071CA4-409A-8C09-5944-B3ADB813CFCD}"/>
              </a:ext>
            </a:extLst>
          </p:cNvPr>
          <p:cNvSpPr/>
          <p:nvPr/>
        </p:nvSpPr>
        <p:spPr>
          <a:xfrm>
            <a:off x="951089" y="1540932"/>
            <a:ext cx="2422218" cy="2353735"/>
          </a:xfrm>
          <a:prstGeom prst="roundRect">
            <a:avLst/>
          </a:prstGeom>
          <a:ln>
            <a:solidFill>
              <a:srgbClr val="0090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3" indent="-342900">
              <a:buClr>
                <a:srgbClr val="00905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9051"/>
                </a:solidFill>
              </a:rPr>
              <a:t>FOAK safety validation</a:t>
            </a:r>
          </a:p>
          <a:p>
            <a:pPr marL="342900" lvl="3" indent="-342900">
              <a:buClr>
                <a:srgbClr val="009051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9051"/>
                </a:solidFill>
              </a:rPr>
              <a:t>Environmental compliance burden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AF3CBB5-9E50-E7E7-3F8E-149E4E94283D}"/>
              </a:ext>
            </a:extLst>
          </p:cNvPr>
          <p:cNvSpPr/>
          <p:nvPr/>
        </p:nvSpPr>
        <p:spPr>
          <a:xfrm>
            <a:off x="3584176" y="1540931"/>
            <a:ext cx="2171704" cy="2353735"/>
          </a:xfrm>
          <a:prstGeom prst="roundRect">
            <a:avLst/>
          </a:prstGeom>
          <a:ln>
            <a:solidFill>
              <a:srgbClr val="264D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rgbClr val="264D9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64D90"/>
                </a:solidFill>
              </a:rPr>
              <a:t>Community acceptance risk</a:t>
            </a:r>
          </a:p>
          <a:p>
            <a:pPr marL="285750" indent="-285750">
              <a:buClr>
                <a:srgbClr val="264D9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64D90"/>
                </a:solidFill>
              </a:rPr>
              <a:t>Deployment complexity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75F2B75-1AD4-1FDA-AE19-1566B3F0F30D}"/>
              </a:ext>
            </a:extLst>
          </p:cNvPr>
          <p:cNvSpPr/>
          <p:nvPr/>
        </p:nvSpPr>
        <p:spPr>
          <a:xfrm>
            <a:off x="5989701" y="1540931"/>
            <a:ext cx="2324566" cy="2353736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No CP / OL approval</a:t>
            </a:r>
          </a:p>
          <a:p>
            <a:pPr marL="342900" indent="-342900">
              <a:buClr>
                <a:srgbClr val="C00000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Equity reliance &amp; ESG capital limits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A9A6914-FC7E-6848-C1FB-D5476F2E869A}"/>
              </a:ext>
            </a:extLst>
          </p:cNvPr>
          <p:cNvSpPr/>
          <p:nvPr/>
        </p:nvSpPr>
        <p:spPr>
          <a:xfrm>
            <a:off x="908754" y="4060317"/>
            <a:ext cx="7587414" cy="5096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Impact: Elevated Cost of Capital &amp; Delayed Cash Flows</a:t>
            </a:r>
          </a:p>
        </p:txBody>
      </p:sp>
    </p:spTree>
    <p:extLst>
      <p:ext uri="{BB962C8B-B14F-4D97-AF65-F5344CB8AC3E}">
        <p14:creationId xmlns:p14="http://schemas.microsoft.com/office/powerpoint/2010/main" val="401183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38AE-814A-682B-9327-C32858B95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25" y="514100"/>
            <a:ext cx="8396908" cy="478200"/>
          </a:xfrm>
        </p:spPr>
        <p:txBody>
          <a:bodyPr/>
          <a:lstStyle/>
          <a:p>
            <a:r>
              <a:rPr lang="en-US" sz="3200"/>
              <a:t>Appendix A- Forecast Income Statement (USD Millions)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E0EB3-0BCB-776C-7639-2050B498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5" y="1312333"/>
            <a:ext cx="8886010" cy="35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6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2D9D-475A-CABE-A7B4-58723F07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C4BB-C2C0-FF17-42C2-07EC5D4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92" y="217768"/>
            <a:ext cx="8447708" cy="478200"/>
          </a:xfrm>
        </p:spPr>
        <p:txBody>
          <a:bodyPr/>
          <a:lstStyle/>
          <a:p>
            <a:r>
              <a:rPr lang="en-US" sz="3200" dirty="0"/>
              <a:t>Appendix B- Forecast Balance Sheet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6A5DCC-E99A-2408-D1C5-F81D3171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91" y="763702"/>
            <a:ext cx="8540841" cy="422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29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9A5A-5714-B7E9-CEC4-D6B58556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4E53-3903-E0DE-D745-550C105C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24" y="303296"/>
            <a:ext cx="8447708" cy="478200"/>
          </a:xfrm>
        </p:spPr>
        <p:txBody>
          <a:bodyPr/>
          <a:lstStyle/>
          <a:p>
            <a:r>
              <a:rPr lang="en-US" sz="3200" dirty="0"/>
              <a:t>Appendix C- Revenue Breakdown by Segment</a:t>
            </a:r>
          </a:p>
        </p:txBody>
      </p:sp>
      <p:pic>
        <p:nvPicPr>
          <p:cNvPr id="5" name="Picture 4" descr="A graph of numbers and percentages&#10;&#10;AI-generated content may be incorrect.">
            <a:extLst>
              <a:ext uri="{FF2B5EF4-FFF2-40B4-BE49-F238E27FC236}">
                <a16:creationId xmlns:a16="http://schemas.microsoft.com/office/drawing/2014/main" id="{628EEF94-D991-CE8E-508E-F7A481CA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65" y="809344"/>
            <a:ext cx="6385000" cy="42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58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7676-92E0-F5E8-81FE-137E31F3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79" y="310898"/>
            <a:ext cx="7717500" cy="478200"/>
          </a:xfrm>
        </p:spPr>
        <p:txBody>
          <a:bodyPr/>
          <a:lstStyle/>
          <a:p>
            <a:r>
              <a:rPr lang="en-US" sz="3200" dirty="0"/>
              <a:t>Appendix D - Cost of Equity Calculation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84C9B0-691C-5759-CA3A-E4255BBA3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256491"/>
              </p:ext>
            </p:extLst>
          </p:nvPr>
        </p:nvGraphicFramePr>
        <p:xfrm>
          <a:off x="6460067" y="1062990"/>
          <a:ext cx="2487188" cy="301752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487188">
                  <a:extLst>
                    <a:ext uri="{9D8B030D-6E8A-4147-A177-3AD203B41FA5}">
                      <a16:colId xmlns:a16="http://schemas.microsoft.com/office/drawing/2014/main" val="389772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CAPM Formula</a:t>
                      </a: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: Re = Rf + </a:t>
                      </a:r>
                      <a:r>
                        <a:rPr lang="el-GR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β × </a:t>
                      </a: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ERP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51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We used 10-year Treasury Yield for our Risk-free rate from FactSet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131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Acquired Equity Risk Premium from Jan 2026 Implied ERP Damodaran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7436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02FA787-025D-807C-ACC9-E517F977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45" y="1369483"/>
            <a:ext cx="6134313" cy="20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99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71FDEB-C8B0-814D-11B2-0816928BEA71}"/>
              </a:ext>
            </a:extLst>
          </p:cNvPr>
          <p:cNvSpPr txBox="1">
            <a:spLocks/>
          </p:cNvSpPr>
          <p:nvPr/>
        </p:nvSpPr>
        <p:spPr>
          <a:xfrm>
            <a:off x="289879" y="198203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/>
              <a:t>Appendix E - WACC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883B7-C020-3A4E-282F-FD7A48DF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79" y="958850"/>
            <a:ext cx="5626100" cy="32258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9E09B0-6F4E-7454-9EEE-164EC7297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431544"/>
              </p:ext>
            </p:extLst>
          </p:nvPr>
        </p:nvGraphicFramePr>
        <p:xfrm>
          <a:off x="6096000" y="797983"/>
          <a:ext cx="2870201" cy="3840480"/>
        </p:xfrm>
        <a:graphic>
          <a:graphicData uri="http://schemas.openxmlformats.org/drawingml/2006/table">
            <a:tbl>
              <a:tblPr firstRow="1" bandRow="1">
                <a:tableStyleId>{6B55E079-7052-45B1-A9A0-D0ADB8C44E8B}</a:tableStyleId>
              </a:tblPr>
              <a:tblGrid>
                <a:gridCol w="2870201">
                  <a:extLst>
                    <a:ext uri="{9D8B030D-6E8A-4147-A177-3AD203B41FA5}">
                      <a16:colId xmlns:a16="http://schemas.microsoft.com/office/drawing/2014/main" val="28096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WACC=(After-tax Cost of Debt * Weight of Debt)+ (Cost of Equity * Weight of Equity)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61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Our Capital Structure is based on </a:t>
                      </a:r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company’s pre-revenue status</a:t>
                      </a: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limited near-term cash flows</a:t>
                      </a: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</a:t>
                      </a:r>
                      <a:r>
                        <a:rPr lang="en-US" sz="1800" b="1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heavy equity reliance </a:t>
                      </a:r>
                      <a:r>
                        <a:rPr lang="en-US" sz="1800" b="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(Market Cap &gt; EV)</a:t>
                      </a:r>
                      <a:endParaRPr lang="en-US" sz="18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213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Federal Corporate tax rate of 21%</a:t>
                      </a:r>
                      <a:endParaRPr lang="en-US" sz="1800" b="1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502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285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F2FBD-2A6F-BC4C-9F44-60EF8AC83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4ACF-127E-5438-59FF-BF9490FA2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92" y="497169"/>
            <a:ext cx="8447708" cy="478200"/>
          </a:xfrm>
        </p:spPr>
        <p:txBody>
          <a:bodyPr/>
          <a:lstStyle/>
          <a:p>
            <a:r>
              <a:rPr lang="en-US" sz="3200" dirty="0"/>
              <a:t>Appendix F- Free Cash Flow to the Firm (FCFF) Calculation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3BDFB-8604-7B99-9C83-B3B5BC68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" y="1370488"/>
            <a:ext cx="8825640" cy="279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82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EDD6-817F-CBA7-87F6-30AE76C9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4C8F-7DFD-15FF-BD12-A28F6FC8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92" y="344769"/>
            <a:ext cx="8447708" cy="478200"/>
          </a:xfrm>
        </p:spPr>
        <p:txBody>
          <a:bodyPr/>
          <a:lstStyle/>
          <a:p>
            <a:r>
              <a:rPr lang="en-US" sz="3200" dirty="0"/>
              <a:t>Appendix G- Perpetual Growth          Sensitivity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FF595-2C31-ED37-1EC7-5A3CEC23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61" y="1066800"/>
            <a:ext cx="8757862" cy="389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0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22A5-4A24-7444-F396-E467F73E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F6EC-9F3C-B9F8-5D1C-BA735247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92" y="209302"/>
            <a:ext cx="8447708" cy="478200"/>
          </a:xfrm>
        </p:spPr>
        <p:txBody>
          <a:bodyPr/>
          <a:lstStyle/>
          <a:p>
            <a:r>
              <a:rPr lang="en-US" sz="3200" dirty="0"/>
              <a:t>Appendix H- Exit Multiple                      Sensitivity Analysis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B6170-71E7-D7A3-DAA5-3A25080AA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0" y="1016000"/>
            <a:ext cx="8948659" cy="398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43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7846-BAE6-2581-A4F0-E297FD7F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03" y="304925"/>
            <a:ext cx="7717500" cy="478200"/>
          </a:xfrm>
        </p:spPr>
        <p:txBody>
          <a:bodyPr/>
          <a:lstStyle/>
          <a:p>
            <a:r>
              <a:rPr lang="en-US" dirty="0"/>
              <a:t>Appendix I- Exit Multiple: Implied Stock Price                   Sensitivity Analysis Results: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F1390B3A-BCB3-5FE5-AA25-8A461C7A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22" y="968644"/>
            <a:ext cx="6303305" cy="40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03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F003-1E91-60FE-A30E-8E95989F1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41" y="237283"/>
            <a:ext cx="8283541" cy="478200"/>
          </a:xfrm>
        </p:spPr>
        <p:txBody>
          <a:bodyPr/>
          <a:lstStyle/>
          <a:p>
            <a:r>
              <a:rPr lang="en-US" sz="3200" dirty="0"/>
              <a:t>Appendix J - Bloomberg and FactSet WACC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785C6-FEA9-5CE3-2A8D-5B0972D7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736" y="1017700"/>
            <a:ext cx="4386020" cy="3957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CF68A-4B81-7BF9-506F-5D47D9B6C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25" y="1065100"/>
            <a:ext cx="45847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08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5D80-54EA-CC55-FC7A-49D61FF7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54260"/>
            <a:ext cx="7717500" cy="478200"/>
          </a:xfrm>
        </p:spPr>
        <p:txBody>
          <a:bodyPr/>
          <a:lstStyle/>
          <a:p>
            <a:r>
              <a:rPr lang="en-US" sz="3200" dirty="0"/>
              <a:t>Appendix K-Porter Five Forces – Advanced Microreactors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3F8DD-6E44-3BA5-2F05-285300E62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25" y="1301858"/>
            <a:ext cx="7717500" cy="3487118"/>
          </a:xfrm>
        </p:spPr>
        <p:txBody>
          <a:bodyPr/>
          <a:lstStyle/>
          <a:p>
            <a:r>
              <a:rPr lang="en-US" sz="2000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Threat of New Entrants: 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due to high regulatory and capital barriers.</a:t>
            </a:r>
            <a:endParaRPr lang="en-US" sz="2000" b="1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solidFill>
                  <a:srgbClr val="264D9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Supplier Power:</a:t>
            </a:r>
            <a:r>
              <a:rPr lang="en-US" sz="2000" dirty="0">
                <a:solidFill>
                  <a:srgbClr val="264D9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given dependence on HALEU fuel and specialized nuclear components.</a:t>
            </a:r>
          </a:p>
          <a:p>
            <a:r>
              <a:rPr lang="en-US" sz="2000" b="1" dirty="0">
                <a:solidFill>
                  <a:srgbClr val="008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Buyer Power</a:t>
            </a:r>
            <a:r>
              <a:rPr lang="en-US" sz="2000" dirty="0">
                <a:solidFill>
                  <a:srgbClr val="008F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Moderate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customers are concentrated and price-sensitive.</a:t>
            </a:r>
            <a:endParaRPr lang="en-US" sz="2000" dirty="0">
              <a:solidFill>
                <a:srgbClr val="008F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solidFill>
                  <a:srgbClr val="E85C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Threat of Substitutes: 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Moderate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natural gas and renewables competing on cost and speed.</a:t>
            </a:r>
            <a:endParaRPr lang="en-US" sz="2000" b="1" dirty="0">
              <a:solidFill>
                <a:srgbClr val="E85C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Competitive Rivalry</a:t>
            </a: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Increasing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firms race toward regulatory approval and first deployments.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349324"/>
      </p:ext>
    </p:extLst>
  </p:cSld>
  <p:clrMapOvr>
    <a:masterClrMapping/>
  </p:clrMapOvr>
</p:sld>
</file>

<file path=ppt/theme/theme1.xml><?xml version="1.0" encoding="utf-8"?>
<a:theme xmlns:a="http://schemas.openxmlformats.org/drawingml/2006/main" name="Investment Business Plan By Slidesgo">
  <a:themeElements>
    <a:clrScheme name="Simple Light">
      <a:dk1>
        <a:srgbClr val="F3F3F3"/>
      </a:dk1>
      <a:lt1>
        <a:srgbClr val="43434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6286</TotalTime>
  <Words>1305</Words>
  <Application>Microsoft Macintosh PowerPoint</Application>
  <PresentationFormat>On-screen Show (16:9)</PresentationFormat>
  <Paragraphs>211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DM Serif Display</vt:lpstr>
      <vt:lpstr>Open Sans</vt:lpstr>
      <vt:lpstr>Open Sans Light</vt:lpstr>
      <vt:lpstr>Investment Business Plan By Slidesgo</vt:lpstr>
      <vt:lpstr>NANO Nuclear Energy</vt:lpstr>
      <vt:lpstr>Investment Thesis — SELL</vt:lpstr>
      <vt:lpstr>Business Description- Nano Nuclear Energy</vt:lpstr>
      <vt:lpstr>Reactor Portfolio Remains Early-Stage and Licensing Dependent</vt:lpstr>
      <vt:lpstr>Advanced Nuclear Microreactors – Industry Structure &amp; Commercial Reality </vt:lpstr>
      <vt:lpstr>Advanced Reactor Peer Comparison</vt:lpstr>
      <vt:lpstr>Construction Permit &amp; Operating License: Critical Path to Commercialization</vt:lpstr>
      <vt:lpstr>PowerPoint Presentation</vt:lpstr>
      <vt:lpstr>Capital Structure &amp; Liquidity Position</vt:lpstr>
      <vt:lpstr>Operating Loss Acceleration &amp; Cost Drivers</vt:lpstr>
      <vt:lpstr>Optimistic Operating &amp; Commercialization Assumptions for Financial Model</vt:lpstr>
      <vt:lpstr>Our Valuation Framework</vt:lpstr>
      <vt:lpstr>PowerPoint Presentation</vt:lpstr>
      <vt:lpstr>PowerPoint Presentation</vt:lpstr>
      <vt:lpstr>Valuation Cross-Check – Exit Multiple Method</vt:lpstr>
      <vt:lpstr>Investment Risks</vt:lpstr>
      <vt:lpstr>ESG Factors Increase Cost of Capital and Commercialization Risk</vt:lpstr>
      <vt:lpstr>Appendix A- Forecast Income Statement (USD Millions)</vt:lpstr>
      <vt:lpstr>Appendix B- Forecast Balance Sheet</vt:lpstr>
      <vt:lpstr>Appendix C- Revenue Breakdown by Segment</vt:lpstr>
      <vt:lpstr>Appendix D - Cost of Equity Calculation</vt:lpstr>
      <vt:lpstr>PowerPoint Presentation</vt:lpstr>
      <vt:lpstr>Appendix F- Free Cash Flow to the Firm (FCFF) Calculation</vt:lpstr>
      <vt:lpstr>Appendix G- Perpetual Growth          Sensitivity Analysis </vt:lpstr>
      <vt:lpstr>Appendix H- Exit Multiple                      Sensitivity Analysis </vt:lpstr>
      <vt:lpstr>Appendix I- Exit Multiple: Implied Stock Price                   Sensitivity Analysis Results:</vt:lpstr>
      <vt:lpstr>Appendix J - Bloomberg and FactSet WACC</vt:lpstr>
      <vt:lpstr>Appendix K-Porter Five Forces – Advanced Microreactors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JUSTIN.MENDOZA1</cp:lastModifiedBy>
  <cp:revision>3</cp:revision>
  <dcterms:modified xsi:type="dcterms:W3CDTF">2026-02-19T04:53:25Z</dcterms:modified>
</cp:coreProperties>
</file>